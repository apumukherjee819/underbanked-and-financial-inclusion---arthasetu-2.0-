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95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  <a:effectLst>
            <a:outerShdw blurRad="508000" dist="50800" dir="16200000" algn="bl" rotWithShape="0">
              <a:srgbClr val="6366F1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  <a:effectLst>
            <a:outerShdw blurRad="381000" dist="50800" dir="16200000" algn="bl" rotWithShape="0">
              <a:srgbClr val="10B981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  <a:effectLst>
            <a:outerShdw blurRad="152400" dist="50800" dir="16200000" algn="bl" rotWithShape="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Scoring for Credit-Invisible Gig Workers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190M+ Indians remain underbanked or credit-invisible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Gig workers (delivery, ride-share, freelancers) lack formal credit history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Informal economy workers cannot access loans, insurance, or UPI credit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illiteracy + smartphone anxiety blocks digital adoption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phishing, QR scams, social engineering target new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an adaptive trust scoring system using behavioral signals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ML models on gig-economy financial data (50K records)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 onboarding for rural/first-time users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10-layer post-quantum security architecture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Sandbox UPI payments — zero real money at risk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DPDP-2023 &amp; RBI compliant data handling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Tamil, Bengali, Marathi, Telugu, Kannada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832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Profiling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Occupation-based, digital comfort level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scores, task completion, app usage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0" y="47091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86968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Lab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5577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budgeting, fraud detection — zero risk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Models &amp; 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303520" cy="1600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trained on 50K records, 67 features. XGBoost selected as champion.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13716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90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463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FINDINGS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8745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2127" y="4434840"/>
            <a:ext cx="11073089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en-US" sz="1200" b="1" dirty="0">
              <a:solidFill>
                <a:srgbClr val="F59E0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0000"/>
              </a:lnSpc>
            </a:pPr>
            <a:endParaRPr lang="en-US" sz="1200" b="1" dirty="0">
              <a:solidFill>
                <a:srgbClr val="F59E0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Tests (p &lt; 0.001)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Income ↔ Loan Approval: χ²=847.3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Score ↔ Approval: t=45.6
• Employment Type ↔ Approval: χ²=1203.1
• Digital Literacy ↔ Approval: χ²=562.8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METHODS APPLIED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84258" y="4663440"/>
            <a:ext cx="666627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 Tests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84258" y="5260258"/>
            <a:ext cx="666627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T-tests / ANOVA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832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8328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93160" y="5074920"/>
            <a:ext cx="1868129" cy="1100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264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39842" y="5715000"/>
            <a:ext cx="7464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67×67 matrix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869680" y="5074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6968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869680" y="4937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features ranked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A8F4A25-F12B-8AF7-6705-B4A3B8ACE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187" y="1783078"/>
            <a:ext cx="5034029" cy="24231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BF992FB-8F62-F3E5-9C22-0EA5143FF714}"/>
              </a:ext>
            </a:extLst>
          </p:cNvPr>
          <p:cNvSpPr/>
          <p:nvPr/>
        </p:nvSpPr>
        <p:spPr>
          <a:xfrm>
            <a:off x="-1930484" y="1783079"/>
            <a:ext cx="1227100" cy="4074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66A9EA-9FE3-2285-03E3-FDFD247506A6}"/>
              </a:ext>
            </a:extLst>
          </p:cNvPr>
          <p:cNvSpPr txBox="1"/>
          <p:nvPr/>
        </p:nvSpPr>
        <p:spPr>
          <a:xfrm>
            <a:off x="3596642" y="4892040"/>
            <a:ext cx="5419861" cy="11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Feature: </a:t>
            </a:r>
            <a:r>
              <a:rPr lang="en-US" sz="1400" b="1" dirty="0" err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financial_inclusion_index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(XGB importance: 0.819)                                                                                                      Dataset: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records × 67 features
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loan_approved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(binary)                                                                                                      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Balance: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 approved / ~</a:t>
            </a:r>
            <a:endParaRPr lang="en-IN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Platform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USER JOURNEY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Me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832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264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980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Finance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410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696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8696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696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&amp;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126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241280" y="182880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241280" y="2286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412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4343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HTML5/CSS3/JavaScript (14 interactive screens)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Node.js + Express.js (40+ API endpoints)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Database: PostgreSQL (16 tables) + Redis caching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Auth: JWT + PQC (Kyber-1024 key exchange)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Helmet, CORS, rate limiting, hash-chain audit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Crypto: ZKP (Halo2), FHE (BFV), PQC (Dilithium-87)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Compliance: DPDP-2023, RBI guidelines, NPCI-UPI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USER PATHWAYS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38912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User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literacy journey → sandbox lab → guidance → certificate → bank connection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507492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User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8368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from last step → continue assessments → update profile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576072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5779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Officer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836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ZKP proofs → view trust score → review consent tokens → approve/reject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— Live Prototype Screens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260604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337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Language &amp; Voice Selection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7920" y="1188720"/>
            <a:ext cx="5486400" cy="260604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10B981">
                <a:alpha val="45000"/>
              </a:srgbClr>
            </a:solidFill>
            <a:prstDash val="solid"/>
          </a:ln>
        </p:spPr>
      </p:sp>
      <p:pic>
        <p:nvPicPr>
          <p:cNvPr id="8" name="Image 1" descr="C:\Users\arpam\OneDrive\Desktop\ICPC\SMART INDIA HACKATHON\appPrototype\app\screenshots\02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80160"/>
            <a:ext cx="5212080" cy="18745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 5"/>
          <p:cNvSpPr/>
          <p:nvPr/>
        </p:nvSpPr>
        <p:spPr>
          <a:xfrm>
            <a:off x="6355080" y="31089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"Know Me" Adaptive Profile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3886200"/>
            <a:ext cx="5486400" cy="251460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F59E0B">
                <a:alpha val="45000"/>
              </a:srgbClr>
            </a:solidFill>
            <a:prstDash val="solid"/>
          </a:ln>
        </p:spPr>
      </p:sp>
      <p:pic>
        <p:nvPicPr>
          <p:cNvPr id="11" name="Image 2" descr="C:\Users\arpam\OneDrive\Desktop\ICPC\SMART INDIA HACKATHON\appPrototype\app\screenshots\03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23360"/>
            <a:ext cx="5212080" cy="19659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 7"/>
          <p:cNvSpPr/>
          <p:nvPr/>
        </p:nvSpPr>
        <p:spPr>
          <a:xfrm>
            <a:off x="594360" y="5943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Safe Finance Lab — Loan Comparator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217920" y="3886200"/>
            <a:ext cx="5486400" cy="251460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9050">
            <a:solidFill>
              <a:srgbClr val="F43F5E">
                <a:alpha val="45000"/>
              </a:srgbClr>
            </a:solidFill>
            <a:prstDash val="solid"/>
          </a:ln>
        </p:spPr>
      </p:sp>
      <p:pic>
        <p:nvPicPr>
          <p:cNvPr id="14" name="Image 3" descr="C:\Users\arpam\OneDrive\Desktop\ICPC\SMART INDIA HACKATHON\appPrototype\app\screenshots\04_certific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23359"/>
            <a:ext cx="5212080" cy="20601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 9"/>
          <p:cNvSpPr/>
          <p:nvPr/>
        </p:nvSpPr>
        <p:spPr>
          <a:xfrm>
            <a:off x="6355080" y="5943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Competency Certificate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933CC2-C123-2113-B34F-8B027C053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280160"/>
            <a:ext cx="5181600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vs Traditional Banking + 10-Layer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905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TRADITIONAL BANKING &amp; UPI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28643"/>
              </p:ext>
            </p:extLst>
          </p:nvPr>
        </p:nvGraphicFramePr>
        <p:xfrm>
          <a:off x="594360" y="1828800"/>
          <a:ext cx="5394960" cy="308152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 / UPI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ArthaSetu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Users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Salaried, credit-scored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 workers, credit-invisible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Assessment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CIBIL, payslips, ITR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trust score (ML)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 + Hindi (limited)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6+ Indian languages, voice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KYC, Aadhaar, statements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profiling, no docs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TLS, passwords, OTP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ZKP + FHE + PQC (10 layers)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Centralized storage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ZKP proofs, FHE compute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real money at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sandbox, zero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Logs, changeable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Hash-chain, immutable, 7yr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Credit-invisible workers get a trust score — no CIBIL, no payslips, no Aadhaar required.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90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10-LAYER SECURITY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18745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ZKP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65392" y="2167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without revealing — Halo2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098280" y="18745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71432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FHE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71432" y="2167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on encrypted data — BFV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92240" y="25603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539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PQC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65392" y="2852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Quantum-resistant crypto — Kyber-1024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098280" y="25603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7143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  Hash-Chain Audit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71432" y="2852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logging — SHA3-256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92240" y="32461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🏰  TEE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65392" y="3538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enclaves — Intel SGX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9098280" y="32461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71432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Smart Consent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171432" y="3538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consent tokens — Dilithium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492240" y="39319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65392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Adaptive Risk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65392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real-time scoring — 8 factors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098280" y="39319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71432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🌫️  Diff. Privacy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71432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noise — ε=0.1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92240" y="46177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65392" y="4636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Crypto-Agility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565392" y="4910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migration — 90-day keys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098280" y="4617720"/>
            <a:ext cx="24688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71432" y="4636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🆔  Self-Sovereign ID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171432" y="4910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identity — DID + VC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309360" y="5394960"/>
            <a:ext cx="530352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0" y="5212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Tables: users · bank_accounts · consent_tokens · audit_immutable · fhe_computations · zkp_verifications · risk_assessments · ...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Evaluation &amp; Impact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MODEL: XGBoost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303520" cy="233172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90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 RESULTS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χ²: Income ↔ Approval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847.3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4984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t-test: Credit Score ↔ Approval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t=45.6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498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χ²: Employment Type ↔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1203.1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4984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χ²: Digital Literacy ↔ Approval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562.8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49840" y="3063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70332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 EVALUATION FLOW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931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382728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0690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190M credit-invisible workers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983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credit history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530352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303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UPI credit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562356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623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to fraud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594360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943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financial literacy tools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0B981"/>
                </a:solidFill>
              </a:rPr>
              <a:t>→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4206240" y="3977640"/>
            <a:ext cx="2926080" cy="224028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/>
          <a:effectLst>
            <a:outerShdw blurRad="152400" dist="50800" dir="16200000" algn="bl" rotWithShape="0">
              <a:srgbClr val="6366F1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4114800" y="4069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54880" y="4114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Trust Score (XGBoost)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ZKP Identity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FHE Scoring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10-Layer Security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Sandbox UPI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23760" y="5029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0B981"/>
                </a:solidFill>
              </a:rPr>
              <a:t>→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8686800" y="37033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955280" y="466344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→ 99.5% accuracy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498348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4983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ZKP verified — no data exposed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955280" y="530352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0" y="5303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FHE encrypted computation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955280" y="562356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5623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7yr immutable audit trail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55280" y="5943600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0" y="5943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real-money risk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ArthaSetu  |  Trust Scoring for Credit-Invisible Gig Workers  |  Smart India Hackathon 2026</a:t>
            </a:r>
            <a:endParaRPr lang="en-US" sz="900" dirty="0"/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DF3A5F3B-42FB-4C49-D61B-4F29C778D581}"/>
              </a:ext>
            </a:extLst>
          </p:cNvPr>
          <p:cNvSpPr/>
          <p:nvPr/>
        </p:nvSpPr>
        <p:spPr>
          <a:xfrm>
            <a:off x="640080" y="467868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1250FC-1CD4-7745-00E4-D1082EB1B966}"/>
              </a:ext>
            </a:extLst>
          </p:cNvPr>
          <p:cNvSpPr txBox="1"/>
          <p:nvPr/>
        </p:nvSpPr>
        <p:spPr>
          <a:xfrm>
            <a:off x="640080" y="4644628"/>
            <a:ext cx="3017520" cy="274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No voice assistant and on-boarding trusts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7" name="Shape 49">
            <a:extLst>
              <a:ext uri="{FF2B5EF4-FFF2-40B4-BE49-F238E27FC236}">
                <a16:creationId xmlns:a16="http://schemas.microsoft.com/office/drawing/2014/main" id="{1A5EE2AF-B7BF-9469-5ECC-08DD8FD60701}"/>
              </a:ext>
            </a:extLst>
          </p:cNvPr>
          <p:cNvSpPr/>
          <p:nvPr/>
        </p:nvSpPr>
        <p:spPr>
          <a:xfrm>
            <a:off x="7955280" y="4358018"/>
            <a:ext cx="320040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FB963E-A3BB-1927-FA89-064F01BE565F}"/>
              </a:ext>
            </a:extLst>
          </p:cNvPr>
          <p:cNvSpPr txBox="1"/>
          <p:nvPr/>
        </p:nvSpPr>
        <p:spPr>
          <a:xfrm>
            <a:off x="7955280" y="4350423"/>
            <a:ext cx="283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Voice assistant and On-boarding Trust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997</Words>
  <Application>Microsoft Office PowerPoint</Application>
  <PresentationFormat>Widescreen</PresentationFormat>
  <Paragraphs>243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ArthaSetu - Trust Scoring for Credit-Invisible Gig Workers</dc:title>
  <dc:subject>PptxGenJS Presentation</dc:subject>
  <dc:creator>ArthaSetu Team</dc:creator>
  <cp:lastModifiedBy>Aritra Ghosh</cp:lastModifiedBy>
  <cp:revision>3</cp:revision>
  <dcterms:created xsi:type="dcterms:W3CDTF">2026-08-26T19:21:17Z</dcterms:created>
  <dcterms:modified xsi:type="dcterms:W3CDTF">2026-08-27T05:24:30Z</dcterms:modified>
</cp:coreProperties>
</file>